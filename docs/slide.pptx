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team, Tier 5 EKS scope, production URL, Jenkins URL, and objective: production-grade DevOps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implementation directly to the official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architecture domains and traffic flow from user to Ingress to Service to pods, with MongoDB and S3.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Terraform layout, subnet design, two-AZ resilience, and single NAT Gateway cost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three jobs, quality gates, SHA traceability, staging, production approval, and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namespace separation, RollingUpdate, HPA Metrics Server, MongoDB PVC, S3 uploads, and pod deletion self-healing.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scanning, non-root runtime, secrets, Cert-Manager, Jenkins Certbot, and why only Ingress is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Prometheus/Grafana/Alertmanager/Loki stack, custom prom-client metrics, ServiceMonitor, and alert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mandatory demo sequence: source change, commit, automatic CI, staging, approval, HTTPS, Grafana, failure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practical problems and trade-offs: Metrics Server, Jenkins Docker, destroy order, DNS, cost,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summary of delivered system and invite questions. Mention limitations honestly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14400"/>
            <a:ext cx="7863840" cy="56692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Production-Grade CI/CD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36192"/>
            <a:ext cx="50292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EA5E9"/>
                </a:solidFill>
                <a:latin typeface="Aptos"/>
              </a:rPr>
              <a:t>for Startup 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2240280"/>
            <a:ext cx="21945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Tier 5: Amazon 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240280"/>
            <a:ext cx="246888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GitHub Actions + Jenkins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2240280"/>
            <a:ext cx="278892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Prometheus + Grafana + Loki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630936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Team: ?inh Qu?c C??ng, Nguy?n Quang Tr??ng, Ph?m Minh H?o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Course: Software Deployment, Operations &amp; Maintenance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Production: https://www.moteo.fun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Jenkins: https://jenkins.moteo.fun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05840"/>
            <a:ext cx="21945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00584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1143000"/>
            <a:ext cx="187451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1536192"/>
            <a:ext cx="1874519" cy="-1554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719072"/>
            <a:ext cx="21945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1719072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1856232"/>
            <a:ext cx="187451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249424"/>
            <a:ext cx="1874519" cy="-1554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432304"/>
            <a:ext cx="21945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2520" y="2432304"/>
            <a:ext cx="73152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2569464"/>
            <a:ext cx="187451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962656"/>
            <a:ext cx="1874519" cy="-1554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145536"/>
            <a:ext cx="21945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3145536"/>
            <a:ext cx="73152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7112" y="3282696"/>
            <a:ext cx="187451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3675887"/>
            <a:ext cx="1874519" cy="-1554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EKS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858768"/>
            <a:ext cx="21945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32520" y="3858768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3995928"/>
            <a:ext cx="187451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4389120"/>
            <a:ext cx="1874519" cy="-1554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Observe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Goals and Checklist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All graded features are implemented, documented, and prepared for demo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54480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154679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AWS cloud provider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Terraform IaC and idempotency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Registered domain and HTTPS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CI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154679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Push-triggered GitHub Actions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npm cache, ESLint, Trivy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Docker image tagged by commit SHA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7472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54480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CD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47672"/>
            <a:ext cx="3154679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Automatic staging deployment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Manual production approval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Health check and auto rollback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53035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566160"/>
            <a:ext cx="4983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Tier 5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959352"/>
            <a:ext cx="4983480" cy="9418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Kubernetes Deployments, Services, Ingress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RollingUpdate and readiness probes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HPA scaling and self-healing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29000"/>
            <a:ext cx="53035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42900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566160"/>
            <a:ext cx="4983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959352"/>
            <a:ext cx="4983480" cy="9418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Prometheus and Grafana dashboards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Alertmanager rules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Loki and Promtail centralized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Tier 5 Kubernetes architecture on Amazon 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24028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Development &amp;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47672"/>
            <a:ext cx="1920240" cy="121615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GitHub repository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GitHub Actions pipeline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Self-hosted Jenkins on EC2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17320"/>
            <a:ext cx="224028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417320"/>
            <a:ext cx="73152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155448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Container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1947672"/>
            <a:ext cx="1920240" cy="121615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Docker Hub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Commit-SHA image tags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No latest dependency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417320"/>
            <a:ext cx="224028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1417320"/>
            <a:ext cx="73152" cy="18745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5272" y="155448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AWS EKS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1947672"/>
            <a:ext cx="1920240" cy="121615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VPC across two AZs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Private EKS worker nodes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NGINX Ingress + TLS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417320"/>
            <a:ext cx="224028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417320"/>
            <a:ext cx="73152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155448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1947672"/>
            <a:ext cx="1920240" cy="121615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Prometheus / Grafana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Alertmanager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Loki / Promtail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94760"/>
            <a:ext cx="16459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  <a:latin typeface="Aptos"/>
              </a:rPr>
              <a:t>Traffic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15087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440740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343400"/>
            <a:ext cx="150876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www.moteo.fun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440740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343400"/>
            <a:ext cx="150876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AWS ELB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440740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343400"/>
            <a:ext cx="150876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NGINX Ingress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440740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343400"/>
            <a:ext cx="150876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ClusterIP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440740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4343400"/>
            <a:ext cx="1508760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Pods + MongoDB + S3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Infrastructure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Terraform creates reproducible AWS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1206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Region: ap-southeast-2 (Sydney)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VPC: 10.0.0.0/16 across two Availability Zones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Public subnets: load balancer and Jenkins EC2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Private subnets: EKS worker nodes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Single NAT Gateway chosen as a cost trade-off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EBS CSI driver enables PersistentVolumeClaims for 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493776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73152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63039"/>
            <a:ext cx="46177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Terraform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856231"/>
            <a:ext cx="4617720" cy="2542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provider.tf: AWS provider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vpc.tf: VPC, subnets, NAT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eks.tf: cluster, nodes, IAM, EBS CSI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s3.tf: upload bucket and node IAM policy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jenkins.tf: EC2, EIP, security group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workstation.tf: DevOps workstation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983480"/>
            <a:ext cx="434340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Idempotency verified: repeated terraform apply = no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CI/CD Pipeline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GitHub Actions is the primary production delivery path; Jenkins is bonus self-hosted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1546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2834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1. CI Build &amp;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2834640" cy="2724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checkout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Node.js 18 + npm cache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npm ci + ESLint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Trivy scan fails High/Critical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Docker build and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1546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73152" cy="3383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463039"/>
            <a:ext cx="2834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2. Deploy 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856231"/>
            <a:ext cx="2834640" cy="2724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automatic after CI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kubectl apply staging manifests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replace image placeholder with SHA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wait for rollout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25880"/>
            <a:ext cx="31546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325880"/>
            <a:ext cx="73152" cy="3383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1463039"/>
            <a:ext cx="2834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3. Deploy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1856231"/>
            <a:ext cx="2834640" cy="2724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manual approval gate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apply production manifests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rolling update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health check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auto rollback on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5257800"/>
            <a:ext cx="7498079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Versioning rule: Docker image tag = short Git commit SHA, never latest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Deployment and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Kubernetes provides environment separation, rolling updates, scaling, and self-healing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Namespaces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154679" cy="1170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staging: 1 replica, internal validation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production: 2 minimum replicas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monitoring, ingress-nginx, cert-manager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Rolling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56231"/>
            <a:ext cx="3154679" cy="1170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strategy: RollingUpdate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maxUnavailable: 0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maxSurge: 1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readiness probe: /health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747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HPA Autoscaling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56231"/>
            <a:ext cx="3154679" cy="1170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autoscaling/v2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CPU target: 60%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Memory target: 70%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replicas: 2 to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52120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7315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794760"/>
            <a:ext cx="4892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State and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187952"/>
            <a:ext cx="4892040" cy="8503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MongoDB 7 with PVC backed by EBS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S3 bucket for uploaded images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Avoids ephemeral pod filesystem loss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57600"/>
            <a:ext cx="52120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657600"/>
            <a:ext cx="73152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794760"/>
            <a:ext cx="4892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Self-Healing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187952"/>
            <a:ext cx="4892040" cy="8503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delete a production pod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ReplicaSet creates replacement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Service routes only to ready pods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Security, Domain, and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Security controls are applied in CI, container runtime, traffic entry, and secret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760720" cy="4572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Trivy blocks CRITICAL/HIGH vulnerabilities in CI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Multi-stage Docker image reduces runtime attack surface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Application runs as non-root appuser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GitHub Actions secrets store Docker Hub and AWS credentials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Terraform state, private keys, and credential files excluded from Git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Cert-Manager + Let's Encrypt secure www.moteo.fun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Nginx + Certbot secure jenkins.moteo.fun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29768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141732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1" y="1554480"/>
            <a:ext cx="3977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DNS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1" y="1947672"/>
            <a:ext cx="3977640" cy="6675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www.moteo.fun: CNAME to AWS ELB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jenkins.moteo.fun: A record to Jenkins Elastic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154680"/>
            <a:ext cx="42976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3154680"/>
            <a:ext cx="73152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1" y="3291840"/>
            <a:ext cx="3977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Ingress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1" y="3685032"/>
            <a:ext cx="3977640" cy="8503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Single public app entry point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NGINX Ingress terminates TLS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Application Service remains ClusterIP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Monitoring and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Metrics, dashboards, alerts, logs, and custom application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kube-prometheus-stack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154679" cy="1399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Prometheus metrics collection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Grafana dashboards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Alertmanager routing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kube-state-metrics and node-exporter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Custom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56231"/>
            <a:ext cx="3154679" cy="1399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moteo_http_requests_total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request duration histogram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active requests gauge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product CRUD operations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S3 upload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747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2057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56231"/>
            <a:ext cx="3154679" cy="1399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Loki centralized log store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Promtail DaemonSet collection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LogQL queries in Grafana Explore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7-day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14630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Alert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36576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PodCrashLooping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HighCPUUsage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HighMemoryUsage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DeploymentReplicasMismatch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480560"/>
            <a:ext cx="64922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Grafana shows real production CPU, memory, pod status, networking, metrics, and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Mandatory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Exact sequence required by the final project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800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Make visible source code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480060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2. Commit and push to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75688"/>
            <a:ext cx="480060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GitHub Actions CI runs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75688"/>
            <a:ext cx="48006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4. Docker image pushed with commit-SHA 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25496"/>
            <a:ext cx="480060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5. Automatic staging deployment completes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25496"/>
            <a:ext cx="4800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6. Approve production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75304"/>
            <a:ext cx="480060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7. Rolling update reaches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75304"/>
            <a:ext cx="480060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8. Verify HTTPS and updated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25112"/>
            <a:ext cx="48006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9. Open Grafana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25112"/>
            <a:ext cx="480060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10. Delete pod and observe self-healing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Lessons Learned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229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Operational details discovered while building and running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Metrics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15467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EKS does not include it by default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HPA shows &lt;unknown&gt; without it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Install separately after cluster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Jenkins Docker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56231"/>
            <a:ext cx="315467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Docker-in-Docker adds risk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Socket mounting has security concerns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GitHub Actions remains primary CD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63039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Terraform Destroy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56231"/>
            <a:ext cx="315467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LoadBalancers create AWS ENIs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Delete Helm/K8s resources first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Wait before terraform destroy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474720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DNS 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867911"/>
            <a:ext cx="315467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ELB hostname changes after recreation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Hostinger records must be updated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Deployment script polls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33756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33756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474720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Cost vs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867911"/>
            <a:ext cx="315467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Two AZs for baseline resilience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Single NAT Gateway to reduce cost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Real production would add NAT redundancy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3756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33756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474720"/>
            <a:ext cx="31546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Storage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867911"/>
            <a:ext cx="315467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Pod filesystems are ephemeral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MongoDB uses PVC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ptos"/>
              </a:defRPr>
            </a:pPr>
            <a:r>
              <a:t>Uploads go to S3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603504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Conclusion and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64008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0EA5E9"/>
                </a:solidFill>
                <a:latin typeface="Aptos"/>
              </a:rPr>
              <a:t>Production-grade delivery system aligned with Tier 5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640080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Terraform provisions AWS VPC, EKS, Jenkins EC2, S3, IAM, and networking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GitHub Actions automates CI, staging, production approval, rollout, and rollback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Kubernetes provides rolling updates, HPA scaling, self-healing, Ingress, and TLS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Prometheus, Grafana, Alertmanager, Loki, and custom metrics provide observability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Prepared demo evidence maps directly to the official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920240"/>
            <a:ext cx="23774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971800"/>
            <a:ext cx="347472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https://www.moteo.fun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3429000"/>
            <a:ext cx="384048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Aptos"/>
              </a:rPr>
              <a:t>https://jenkins.moteo.fun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